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1"/>
          <p:nvPr/>
        </p:nvSpPr>
        <p:spPr>
          <a:xfrm>
            <a:off x="777240" y="141732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0" spc="20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プロジェクト計画書 — BACKEND</a:t>
            </a:r>
          </a:p>
        </p:txBody>
      </p:sp>
      <p:sp>
        <p:nvSpPr>
          <p:cNvPr id="3" name="s3"/>
          <p:cNvSpPr txBox="1"/>
          <p:nvPr/>
        </p:nvSpPr>
        <p:spPr>
          <a:xfrm>
            <a:off x="777240" y="1828800"/>
            <a:ext cx="10637215" cy="17373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lnSpc>
                <a:spcPct val="1280"/>
              </a:lnSpc>
              <a:buNone/>
            </a:pPr>
            <a:r>
              <a:rPr lang="ja-JP" altLang="en-US" sz="4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Excel の シート 1 まいが</a:t>
            </a:r>
          </a:p>
          <a:p>
            <a:pPr marL="0" indent="0">
              <a:lnSpc>
                <a:spcPct val="1280"/>
              </a:lnSpc>
              <a:buNone/>
            </a:pPr>
            <a:r>
              <a:rPr lang="ja-JP" altLang="en-US" sz="4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API 1 ページに なるまで</a:t>
            </a:r>
          </a:p>
        </p:txBody>
      </p:sp>
      <p:sp>
        <p:nvSpPr>
          <p:cNvPr id="4" name="s4"/>
          <p:cNvSpPr txBox="1"/>
          <p:nvPr/>
        </p:nvSpPr>
        <p:spPr>
          <a:xfrm>
            <a:off x="777240" y="3703320"/>
            <a:ext cx="10637215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5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32 ページの 申請フォームを、少ない コードで 作る 方法を 説明します。</a:t>
            </a:r>
          </a:p>
        </p:txBody>
      </p:sp>
      <p:cxnSp>
        <p:nvCxnSpPr>
          <p:cNvPr id="5" name="l5"/>
          <p:cNvCxnSpPr/>
          <p:nvPr/>
        </p:nvCxnSpPr>
        <p:spPr>
          <a:xfrm>
            <a:off x="777240" y="4572000"/>
            <a:ext cx="10637215" cy="0"/>
          </a:xfrm>
          <a:prstGeom prst="line">
            <a:avLst/>
          </a:prstGeom>
          <a:ln w="25400">
            <a:solidFill>
              <a:srgbClr val="191C22"/>
            </a:solidFill>
          </a:ln>
        </p:spPr>
      </p:cxnSp>
      <p:sp>
        <p:nvSpPr>
          <p:cNvPr id="6" name="s6"/>
          <p:cNvSpPr txBox="1"/>
          <p:nvPr/>
        </p:nvSpPr>
        <p:spPr>
          <a:xfrm>
            <a:off x="777240" y="470916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1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32 ページ</a:t>
            </a:r>
            <a:r>
              <a:rPr lang="ja-JP" altLang="en-US" sz="1100" b="1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 5 API</a:t>
            </a:r>
            <a:r>
              <a:rPr lang="ja-JP" altLang="en-US" sz="1100" b="1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 1 コントローラ</a:t>
            </a:r>
            <a:r>
              <a:rPr lang="ja-JP" altLang="en-US" sz="11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     SQL は 読むだけ</a:t>
            </a:r>
            <a:r>
              <a:rPr lang="ja-JP" altLang="en-US" sz="11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     保存は DynamoDB</a:t>
            </a:r>
          </a:p>
        </p:txBody>
      </p:sp>
      <p:sp>
        <p:nvSpPr>
          <p:cNvPr id="7" name="s7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18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01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ぜんたいの ながれ</a:t>
            </a:r>
          </a:p>
        </p:txBody>
      </p:sp>
      <p:sp>
        <p:nvSpPr>
          <p:cNvPr id="19" name="s19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作りかたは 4 つの ステップです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691640"/>
            <a:ext cx="1063721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868680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2000" b="1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4" name="s4"/>
          <p:cNvSpPr txBox="1"/>
          <p:nvPr/>
        </p:nvSpPr>
        <p:spPr>
          <a:xfrm>
            <a:off x="1371600" y="1810512"/>
            <a:ext cx="9859975" cy="3200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5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Excel を 読む</a:t>
            </a:r>
            <a:r>
              <a:rPr lang="ja-JP" altLang="en-US" sz="900" b="0" spc="120" dirty="0">
                <a:solidFill>
                  <a:srgbClr val="2B3A67"/>
                </a:solidFill>
                <a:latin typeface="Consolas"/>
                <a:ea typeface="Consolas"/>
                <a:cs typeface="Consolas"/>
              </a:rPr>
              <a:t>   1 回だけ</a:t>
            </a:r>
          </a:p>
        </p:txBody>
      </p:sp>
      <p:sp>
        <p:nvSpPr>
          <p:cNvPr id="5" name="s5"/>
          <p:cNvSpPr txBox="1"/>
          <p:nvPr/>
        </p:nvSpPr>
        <p:spPr>
          <a:xfrm>
            <a:off x="1371600" y="2148840"/>
            <a:ext cx="9859975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5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公式の Excel が 仕様書です。何ページ あるか、どの ページに 表が あるかを 見ます。</a:t>
            </a:r>
          </a:p>
        </p:txBody>
      </p:sp>
      <p:sp>
        <p:nvSpPr>
          <p:cNvPr id="6" name="s6"/>
          <p:cNvSpPr txBox="1"/>
          <p:nvPr/>
        </p:nvSpPr>
        <p:spPr>
          <a:xfrm>
            <a:off x="777240" y="2743200"/>
            <a:ext cx="1063721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7" name="s7"/>
          <p:cNvSpPr txBox="1"/>
          <p:nvPr/>
        </p:nvSpPr>
        <p:spPr>
          <a:xfrm>
            <a:off x="868680" y="29077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2000" b="1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8" name="s8"/>
          <p:cNvSpPr txBox="1"/>
          <p:nvPr/>
        </p:nvSpPr>
        <p:spPr>
          <a:xfrm>
            <a:off x="1371600" y="2862072"/>
            <a:ext cx="9859975" cy="3200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5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ベースフォームを 作る</a:t>
            </a:r>
            <a:r>
              <a:rPr lang="ja-JP" altLang="en-US" sz="900" b="0" spc="120" dirty="0">
                <a:solidFill>
                  <a:srgbClr val="2B3A67"/>
                </a:solidFill>
                <a:latin typeface="Consolas"/>
                <a:ea typeface="Consolas"/>
                <a:cs typeface="Consolas"/>
              </a:rPr>
              <a:t>   1 回だけ</a:t>
            </a:r>
          </a:p>
        </p:txBody>
      </p:sp>
      <p:sp>
        <p:nvSpPr>
          <p:cNvPr id="9" name="s9"/>
          <p:cNvSpPr txBox="1"/>
          <p:nvPr/>
        </p:nvSpPr>
        <p:spPr>
          <a:xfrm>
            <a:off x="1371600" y="3200400"/>
            <a:ext cx="9859975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5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全部の ページで 共通の しくみです。ここが できれば、あとは かんたんです。</a:t>
            </a:r>
          </a:p>
        </p:txBody>
      </p:sp>
      <p:sp>
        <p:nvSpPr>
          <p:cNvPr id="10" name="s10"/>
          <p:cNvSpPr txBox="1"/>
          <p:nvPr/>
        </p:nvSpPr>
        <p:spPr>
          <a:xfrm>
            <a:off x="777240" y="3794760"/>
            <a:ext cx="1063721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1" name="s11"/>
          <p:cNvSpPr txBox="1"/>
          <p:nvPr/>
        </p:nvSpPr>
        <p:spPr>
          <a:xfrm>
            <a:off x="868680" y="3959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2000" b="1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2" name="s12"/>
          <p:cNvSpPr txBox="1"/>
          <p:nvPr/>
        </p:nvSpPr>
        <p:spPr>
          <a:xfrm>
            <a:off x="1371600" y="3913632"/>
            <a:ext cx="9859975" cy="3200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5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DTO を 1 つずつ 足す</a:t>
            </a:r>
            <a:r>
              <a:rPr lang="ja-JP" altLang="en-US" sz="900" b="0" spc="12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   ページの 数だけ</a:t>
            </a:r>
          </a:p>
        </p:txBody>
      </p:sp>
      <p:sp>
        <p:nvSpPr>
          <p:cNvPr id="13" name="s13"/>
          <p:cNvSpPr txBox="1"/>
          <p:nvPr/>
        </p:nvSpPr>
        <p:spPr>
          <a:xfrm>
            <a:off x="1371600" y="4251960"/>
            <a:ext cx="9859975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5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シート 1 まいから DTO を 1 つ 作り、レジストリに 1 行 書きます。それだけです。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777240" y="4846320"/>
            <a:ext cx="1063721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5" name="s15"/>
          <p:cNvSpPr txBox="1"/>
          <p:nvPr/>
        </p:nvSpPr>
        <p:spPr>
          <a:xfrm>
            <a:off x="868680" y="50109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2000" b="1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6" name="s16"/>
          <p:cNvSpPr txBox="1"/>
          <p:nvPr/>
        </p:nvSpPr>
        <p:spPr>
          <a:xfrm>
            <a:off x="1371600" y="4965192"/>
            <a:ext cx="9859975" cy="3200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5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API は 5 本の まま</a:t>
            </a:r>
          </a:p>
        </p:txBody>
      </p:sp>
      <p:sp>
        <p:nvSpPr>
          <p:cNvPr id="17" name="s17"/>
          <p:cNvSpPr txBox="1"/>
          <p:nvPr/>
        </p:nvSpPr>
        <p:spPr>
          <a:xfrm>
            <a:off x="1371600" y="5303520"/>
            <a:ext cx="9859975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5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ページが 32 に なっても、API は ふえません。新しい エンドポイントは 作りません。</a:t>
            </a:r>
          </a:p>
        </p:txBody>
      </p:sp>
      <p:sp>
        <p:nvSpPr>
          <p:cNvPr id="20" name="s20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7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01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いちばん 大事な こと</a:t>
            </a:r>
          </a:p>
        </p:txBody>
      </p:sp>
      <p:sp>
        <p:nvSpPr>
          <p:cNvPr id="8" name="s8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ページを 足す 作業は 2 つだけ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920240"/>
            <a:ext cx="10637215" cy="1828800"/>
          </a:xfrm>
          <a:prstGeom prst="rect">
            <a:avLst/>
          </a:prstGeom>
          <a:solidFill>
            <a:srgbClr val="F7E9E8"/>
          </a:solidFill>
          <a:ln w="25400">
            <a:solidFill>
              <a:srgbClr val="B33A38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1097280" y="21488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950" b="0" spc="20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ルール</a:t>
            </a:r>
          </a:p>
        </p:txBody>
      </p:sp>
      <p:sp>
        <p:nvSpPr>
          <p:cNvPr id="4" name="s4"/>
          <p:cNvSpPr txBox="1"/>
          <p:nvPr/>
        </p:nvSpPr>
        <p:spPr>
          <a:xfrm>
            <a:off x="1097280" y="2514600"/>
            <a:ext cx="9997135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7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>ページを 1 つ ふやす 作業は、</a:t>
            </a:r>
            <a:r>
              <a:rPr lang="ja-JP" altLang="en-US" sz="170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DTO 1 つと レジストリ 1 行</a:t>
            </a:r>
            <a:r>
              <a:rPr lang="ja-JP" altLang="en-US" sz="17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>だけです。</a:t>
            </a:r>
          </a:p>
        </p:txBody>
      </p:sp>
      <p:sp>
        <p:nvSpPr>
          <p:cNvPr id="5" name="s5"/>
          <p:cNvSpPr txBox="1"/>
          <p:nvPr/>
        </p:nvSpPr>
        <p:spPr>
          <a:xfrm>
            <a:off x="1097280" y="3063240"/>
            <a:ext cx="9997135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5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>ページごとに コントローラや サービスは </a:t>
            </a:r>
            <a:r>
              <a:rPr lang="ja-JP" altLang="en-US" sz="150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作りません</a:t>
            </a:r>
            <a:r>
              <a:rPr lang="ja-JP" altLang="en-US" sz="15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>。</a:t>
            </a:r>
          </a:p>
        </p:txBody>
      </p:sp>
      <p:sp>
        <p:nvSpPr>
          <p:cNvPr id="6" name="s6"/>
          <p:cNvSpPr txBox="1"/>
          <p:nvPr/>
        </p:nvSpPr>
        <p:spPr>
          <a:xfrm>
            <a:off x="777240" y="4069080"/>
            <a:ext cx="10637215" cy="10972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4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もし ページごとに 作ると、1 ページで 6 ファイル。32 ページで 190 ファイル 以上に なります。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4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そして 同じ 修正を 32 回 する ことに なります。</a:t>
            </a:r>
          </a:p>
        </p:txBody>
      </p:sp>
      <p:sp>
        <p:nvSpPr>
          <p:cNvPr id="9" name="s9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17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02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ステップ 2 — ベースフォーム（1/2）</a:t>
            </a:r>
          </a:p>
        </p:txBody>
      </p:sp>
      <p:sp>
        <p:nvSpPr>
          <p:cNvPr id="18" name="s18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ベースフォームに 必要な もの ①〜③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737360"/>
            <a:ext cx="339333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941832" y="1874520"/>
            <a:ext cx="3064154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35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① 共通の 親クラス</a:t>
            </a:r>
          </a:p>
        </p:txBody>
      </p:sp>
      <p:sp>
        <p:nvSpPr>
          <p:cNvPr id="4" name="s4"/>
          <p:cNvSpPr txBox="1"/>
          <p:nvPr/>
        </p:nvSpPr>
        <p:spPr>
          <a:xfrm>
            <a:off x="941832" y="2331720"/>
            <a:ext cx="3064154" cy="1051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全部の ページが これを 受けつぎます。キー・状態・更新日時・更新した 人を 持ちます。</a:t>
            </a:r>
          </a:p>
        </p:txBody>
      </p:sp>
      <p:cxnSp>
        <p:nvCxnSpPr>
          <p:cNvPr id="5" name="l5"/>
          <p:cNvCxnSpPr/>
          <p:nvPr/>
        </p:nvCxnSpPr>
        <p:spPr>
          <a:xfrm>
            <a:off x="941832" y="3493008"/>
            <a:ext cx="3064154" cy="0"/>
          </a:xfrm>
          <a:prstGeom prst="line">
            <a:avLst/>
          </a:prstGeom>
          <a:ln w="9525">
            <a:solidFill>
              <a:srgbClr val="D6DAE2"/>
            </a:solidFill>
          </a:ln>
        </p:spPr>
      </p:cxnSp>
      <p:sp>
        <p:nvSpPr>
          <p:cNvPr id="6" name="s6"/>
          <p:cNvSpPr txBox="1"/>
          <p:nvPr/>
        </p:nvSpPr>
        <p:spPr>
          <a:xfrm>
            <a:off x="941832" y="3584448"/>
            <a:ext cx="3064154" cy="1280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理由：</a:t>
            </a:r>
            <a:r>
              <a:rPr lang="ja-JP" altLang="en-US" sz="1050" b="0" dirty="0">
                <a:solidFill>
                  <a:srgbClr val="737C8C"/>
                </a:solidFill>
                <a:latin typeface="Noto Sans JP"/>
                <a:ea typeface="Noto Sans JP"/>
                <a:cs typeface="Noto Sans JP"/>
              </a:rPr>
              <a:t>この 4 つは サーバが 決めます。ブラウザから 送っても 無視します。だから「完了」を うそで 送れません。</a:t>
            </a:r>
          </a:p>
        </p:txBody>
      </p:sp>
      <p:sp>
        <p:nvSpPr>
          <p:cNvPr id="7" name="s7"/>
          <p:cNvSpPr txBox="1"/>
          <p:nvPr/>
        </p:nvSpPr>
        <p:spPr>
          <a:xfrm>
            <a:off x="4399178" y="1737360"/>
            <a:ext cx="339333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8" name="s8"/>
          <p:cNvSpPr txBox="1"/>
          <p:nvPr/>
        </p:nvSpPr>
        <p:spPr>
          <a:xfrm>
            <a:off x="4563770" y="1874520"/>
            <a:ext cx="3064154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35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② 行の 目じるし</a:t>
            </a:r>
          </a:p>
        </p:txBody>
      </p:sp>
      <p:sp>
        <p:nvSpPr>
          <p:cNvPr id="9" name="s9"/>
          <p:cNvSpPr txBox="1"/>
          <p:nvPr/>
        </p:nvSpPr>
        <p:spPr>
          <a:xfrm>
            <a:off x="4563770" y="2331720"/>
            <a:ext cx="3064154" cy="1051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表の 1 行を あらわす クラスに、からの インタフェースを つけます。</a:t>
            </a:r>
          </a:p>
        </p:txBody>
      </p:sp>
      <p:cxnSp>
        <p:nvCxnSpPr>
          <p:cNvPr id="10" name="l10"/>
          <p:cNvCxnSpPr/>
          <p:nvPr/>
        </p:nvCxnSpPr>
        <p:spPr>
          <a:xfrm>
            <a:off x="4563770" y="3493008"/>
            <a:ext cx="3064154" cy="0"/>
          </a:xfrm>
          <a:prstGeom prst="line">
            <a:avLst/>
          </a:prstGeom>
          <a:ln w="9525">
            <a:solidFill>
              <a:srgbClr val="D6DAE2"/>
            </a:solidFill>
          </a:ln>
        </p:spPr>
      </p:cxnSp>
      <p:sp>
        <p:nvSpPr>
          <p:cNvPr id="11" name="s11"/>
          <p:cNvSpPr txBox="1"/>
          <p:nvPr/>
        </p:nvSpPr>
        <p:spPr>
          <a:xfrm>
            <a:off x="4563770" y="3584448"/>
            <a:ext cx="3064154" cy="1280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理由：</a:t>
            </a:r>
            <a:r>
              <a:rPr lang="ja-JP" altLang="en-US" sz="1050" b="0" dirty="0">
                <a:solidFill>
                  <a:srgbClr val="737C8C"/>
                </a:solidFill>
                <a:latin typeface="Noto Sans JP"/>
                <a:ea typeface="Noto Sans JP"/>
                <a:cs typeface="Noto Sans JP"/>
              </a:rPr>
              <a:t>この 申請書は ほとんどが 表です。目じるしが あれば、名前の ルールに たよらずに 表を 見つけられます。</a:t>
            </a:r>
          </a:p>
        </p:txBody>
      </p:sp>
      <p:sp>
        <p:nvSpPr>
          <p:cNvPr id="12" name="s12"/>
          <p:cNvSpPr txBox="1"/>
          <p:nvPr/>
        </p:nvSpPr>
        <p:spPr>
          <a:xfrm>
            <a:off x="8021117" y="1737360"/>
            <a:ext cx="339333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3" name="s13"/>
          <p:cNvSpPr txBox="1"/>
          <p:nvPr/>
        </p:nvSpPr>
        <p:spPr>
          <a:xfrm>
            <a:off x="8185709" y="1874520"/>
            <a:ext cx="3064154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35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③ FormDefinition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8185709" y="2331720"/>
            <a:ext cx="3064154" cy="1051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1 ページを 説明する 記録です。URL・保存キー・表示名・じゅんばん・DTO の クラスを 持ちます。</a:t>
            </a:r>
          </a:p>
        </p:txBody>
      </p:sp>
      <p:cxnSp>
        <p:nvCxnSpPr>
          <p:cNvPr id="15" name="l15"/>
          <p:cNvCxnSpPr/>
          <p:nvPr/>
        </p:nvCxnSpPr>
        <p:spPr>
          <a:xfrm>
            <a:off x="8185709" y="3493008"/>
            <a:ext cx="3064154" cy="0"/>
          </a:xfrm>
          <a:prstGeom prst="line">
            <a:avLst/>
          </a:prstGeom>
          <a:ln w="9525">
            <a:solidFill>
              <a:srgbClr val="D6DAE2"/>
            </a:solidFill>
          </a:ln>
        </p:spPr>
      </p:cxnSp>
      <p:sp>
        <p:nvSpPr>
          <p:cNvPr id="16" name="s16"/>
          <p:cNvSpPr txBox="1"/>
          <p:nvPr/>
        </p:nvSpPr>
        <p:spPr>
          <a:xfrm>
            <a:off x="8185709" y="3584448"/>
            <a:ext cx="3064154" cy="1280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理由：</a:t>
            </a:r>
            <a:r>
              <a:rPr lang="ja-JP" altLang="en-US" sz="1050" b="0" dirty="0">
                <a:solidFill>
                  <a:srgbClr val="737C8C"/>
                </a:solidFill>
                <a:latin typeface="Noto Sans JP"/>
                <a:ea typeface="Noto Sans JP"/>
                <a:cs typeface="Noto Sans JP"/>
              </a:rPr>
              <a:t>ページを「データ」に します。だから 処理は 1 本で すみます。</a:t>
            </a:r>
          </a:p>
        </p:txBody>
      </p:sp>
      <p:sp>
        <p:nvSpPr>
          <p:cNvPr id="19" name="s19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17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02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ステップ 2 — ベースフォーム（2/2）</a:t>
            </a:r>
          </a:p>
        </p:txBody>
      </p:sp>
      <p:sp>
        <p:nvSpPr>
          <p:cNvPr id="18" name="s18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ベースフォームに 必要な もの ④〜⑥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737360"/>
            <a:ext cx="339333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941832" y="1874520"/>
            <a:ext cx="3064154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35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④ レジストリ</a:t>
            </a:r>
          </a:p>
        </p:txBody>
      </p:sp>
      <p:sp>
        <p:nvSpPr>
          <p:cNvPr id="4" name="s4"/>
          <p:cNvSpPr txBox="1"/>
          <p:nvPr/>
        </p:nvSpPr>
        <p:spPr>
          <a:xfrm>
            <a:off x="941832" y="2331720"/>
            <a:ext cx="3064154" cy="1051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ページの 一覧です。ここに 全部の ページを ならべます。</a:t>
            </a:r>
          </a:p>
        </p:txBody>
      </p:sp>
      <p:cxnSp>
        <p:nvCxnSpPr>
          <p:cNvPr id="5" name="l5"/>
          <p:cNvCxnSpPr/>
          <p:nvPr/>
        </p:nvCxnSpPr>
        <p:spPr>
          <a:xfrm>
            <a:off x="941832" y="3493008"/>
            <a:ext cx="3064154" cy="0"/>
          </a:xfrm>
          <a:prstGeom prst="line">
            <a:avLst/>
          </a:prstGeom>
          <a:ln w="9525">
            <a:solidFill>
              <a:srgbClr val="D6DAE2"/>
            </a:solidFill>
          </a:ln>
        </p:spPr>
      </p:cxnSp>
      <p:sp>
        <p:nvSpPr>
          <p:cNvPr id="6" name="s6"/>
          <p:cNvSpPr txBox="1"/>
          <p:nvPr/>
        </p:nvSpPr>
        <p:spPr>
          <a:xfrm>
            <a:off x="941832" y="3584448"/>
            <a:ext cx="3064154" cy="1280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理由：</a:t>
            </a:r>
            <a:r>
              <a:rPr lang="ja-JP" altLang="en-US" sz="1050" b="0" dirty="0">
                <a:solidFill>
                  <a:srgbClr val="737C8C"/>
                </a:solidFill>
                <a:latin typeface="Noto Sans JP"/>
                <a:ea typeface="Noto Sans JP"/>
                <a:cs typeface="Noto Sans JP"/>
              </a:rPr>
              <a:t>名前が かぶったり、じゅんばんが とんだら 起動の ときに 止まります。あとで 気づくより 安全です。</a:t>
            </a:r>
          </a:p>
        </p:txBody>
      </p:sp>
      <p:sp>
        <p:nvSpPr>
          <p:cNvPr id="7" name="s7"/>
          <p:cNvSpPr txBox="1"/>
          <p:nvPr/>
        </p:nvSpPr>
        <p:spPr>
          <a:xfrm>
            <a:off x="4399178" y="1737360"/>
            <a:ext cx="339333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8" name="s8"/>
          <p:cNvSpPr txBox="1"/>
          <p:nvPr/>
        </p:nvSpPr>
        <p:spPr>
          <a:xfrm>
            <a:off x="4563770" y="1874520"/>
            <a:ext cx="3064154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35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⑤ 共通の リポジトリ</a:t>
            </a:r>
          </a:p>
        </p:txBody>
      </p:sp>
      <p:sp>
        <p:nvSpPr>
          <p:cNvPr id="9" name="s9"/>
          <p:cNvSpPr txBox="1"/>
          <p:nvPr/>
        </p:nvSpPr>
        <p:spPr>
          <a:xfrm>
            <a:off x="4563770" y="2331720"/>
            <a:ext cx="3064154" cy="1051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ページごとに 作りません。1 つで 全部の ページを 読み書きします。</a:t>
            </a:r>
          </a:p>
        </p:txBody>
      </p:sp>
      <p:cxnSp>
        <p:nvCxnSpPr>
          <p:cNvPr id="10" name="l10"/>
          <p:cNvCxnSpPr/>
          <p:nvPr/>
        </p:nvCxnSpPr>
        <p:spPr>
          <a:xfrm>
            <a:off x="4563770" y="3493008"/>
            <a:ext cx="3064154" cy="0"/>
          </a:xfrm>
          <a:prstGeom prst="line">
            <a:avLst/>
          </a:prstGeom>
          <a:ln w="9525">
            <a:solidFill>
              <a:srgbClr val="D6DAE2"/>
            </a:solidFill>
          </a:ln>
        </p:spPr>
      </p:cxnSp>
      <p:sp>
        <p:nvSpPr>
          <p:cNvPr id="11" name="s11"/>
          <p:cNvSpPr txBox="1"/>
          <p:nvPr/>
        </p:nvSpPr>
        <p:spPr>
          <a:xfrm>
            <a:off x="4563770" y="3584448"/>
            <a:ext cx="3064154" cy="1280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理由：</a:t>
            </a:r>
            <a:r>
              <a:rPr lang="ja-JP" altLang="en-US" sz="1050" b="0" dirty="0">
                <a:solidFill>
                  <a:srgbClr val="737C8C"/>
                </a:solidFill>
                <a:latin typeface="Noto Sans JP"/>
                <a:ea typeface="Noto Sans JP"/>
                <a:cs typeface="Noto Sans JP"/>
              </a:rPr>
              <a:t>進みぐあいは 1 回の クエリで 全ページ分 取ります。32 回 読みには しません。</a:t>
            </a:r>
          </a:p>
        </p:txBody>
      </p:sp>
      <p:sp>
        <p:nvSpPr>
          <p:cNvPr id="12" name="s12"/>
          <p:cNvSpPr txBox="1"/>
          <p:nvPr/>
        </p:nvSpPr>
        <p:spPr>
          <a:xfrm>
            <a:off x="8021117" y="1737360"/>
            <a:ext cx="339333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3" name="s13"/>
          <p:cNvSpPr txBox="1"/>
          <p:nvPr/>
        </p:nvSpPr>
        <p:spPr>
          <a:xfrm>
            <a:off x="8185709" y="1874520"/>
            <a:ext cx="3064154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35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⑥ 共通の サービスと コントローラ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8185709" y="2331720"/>
            <a:ext cx="3064154" cy="1051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読む・保存する・進みぐあいを 返す。この 3 つを 1 か所に 書きます。</a:t>
            </a:r>
          </a:p>
        </p:txBody>
      </p:sp>
      <p:cxnSp>
        <p:nvCxnSpPr>
          <p:cNvPr id="15" name="l15"/>
          <p:cNvCxnSpPr/>
          <p:nvPr/>
        </p:nvCxnSpPr>
        <p:spPr>
          <a:xfrm>
            <a:off x="8185709" y="3493008"/>
            <a:ext cx="3064154" cy="0"/>
          </a:xfrm>
          <a:prstGeom prst="line">
            <a:avLst/>
          </a:prstGeom>
          <a:ln w="9525">
            <a:solidFill>
              <a:srgbClr val="D6DAE2"/>
            </a:solidFill>
          </a:ln>
        </p:spPr>
      </p:cxnSp>
      <p:sp>
        <p:nvSpPr>
          <p:cNvPr id="16" name="s16"/>
          <p:cNvSpPr txBox="1"/>
          <p:nvPr/>
        </p:nvSpPr>
        <p:spPr>
          <a:xfrm>
            <a:off x="8185709" y="3584448"/>
            <a:ext cx="3064154" cy="1280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理由：</a:t>
            </a:r>
            <a:r>
              <a:rPr lang="ja-JP" altLang="en-US" sz="1050" b="0" dirty="0">
                <a:solidFill>
                  <a:srgbClr val="737C8C"/>
                </a:solidFill>
                <a:latin typeface="Noto Sans JP"/>
                <a:ea typeface="Noto Sans JP"/>
                <a:cs typeface="Noto Sans JP"/>
              </a:rPr>
              <a:t>保存の 順番が 仕様です。1 か所に すれば、ぜんぶの ページで 同じに なります。</a:t>
            </a:r>
          </a:p>
        </p:txBody>
      </p:sp>
      <p:sp>
        <p:nvSpPr>
          <p:cNvPr id="19" name="s19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19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02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ステップ 2 — 保存の 順番</a:t>
            </a:r>
          </a:p>
        </p:txBody>
      </p:sp>
      <p:sp>
        <p:nvSpPr>
          <p:cNvPr id="20" name="s20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保存の 順番が そのまま 仕様です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691640"/>
            <a:ext cx="1063721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868680" y="1819656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4" name="s4"/>
          <p:cNvSpPr txBox="1"/>
          <p:nvPr/>
        </p:nvSpPr>
        <p:spPr>
          <a:xfrm>
            <a:off x="1371600" y="1792224"/>
            <a:ext cx="9859975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計算する</a:t>
            </a:r>
          </a:p>
        </p:txBody>
      </p:sp>
      <p:sp>
        <p:nvSpPr>
          <p:cNvPr id="5" name="s5"/>
          <p:cNvSpPr txBox="1"/>
          <p:nvPr/>
        </p:nvSpPr>
        <p:spPr>
          <a:xfrm>
            <a:off x="1371600" y="2103120"/>
            <a:ext cx="9859975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合計や 年度の 表を サーバが 作ります。ブラウザが 送った 合計は 上書きします。</a:t>
            </a:r>
          </a:p>
        </p:txBody>
      </p:sp>
      <p:sp>
        <p:nvSpPr>
          <p:cNvPr id="6" name="s6"/>
          <p:cNvSpPr txBox="1"/>
          <p:nvPr/>
        </p:nvSpPr>
        <p:spPr>
          <a:xfrm>
            <a:off x="777240" y="2606040"/>
            <a:ext cx="1063721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7" name="s7"/>
          <p:cNvSpPr txBox="1"/>
          <p:nvPr/>
        </p:nvSpPr>
        <p:spPr>
          <a:xfrm>
            <a:off x="868680" y="2734056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8" name="s8"/>
          <p:cNvSpPr txBox="1"/>
          <p:nvPr/>
        </p:nvSpPr>
        <p:spPr>
          <a:xfrm>
            <a:off x="1371600" y="2706624"/>
            <a:ext cx="9859975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チェックする</a:t>
            </a:r>
          </a:p>
        </p:txBody>
      </p:sp>
      <p:sp>
        <p:nvSpPr>
          <p:cNvPr id="9" name="s9"/>
          <p:cNvSpPr txBox="1"/>
          <p:nvPr/>
        </p:nvSpPr>
        <p:spPr>
          <a:xfrm>
            <a:off x="1371600" y="3017520"/>
            <a:ext cx="9859975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1 つでも だめなら 400 を 返して、何も 保存しません。</a:t>
            </a:r>
          </a:p>
        </p:txBody>
      </p:sp>
      <p:sp>
        <p:nvSpPr>
          <p:cNvPr id="10" name="s10"/>
          <p:cNvSpPr txBox="1"/>
          <p:nvPr/>
        </p:nvSpPr>
        <p:spPr>
          <a:xfrm>
            <a:off x="777240" y="3520440"/>
            <a:ext cx="1063721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1" name="s11"/>
          <p:cNvSpPr txBox="1"/>
          <p:nvPr/>
        </p:nvSpPr>
        <p:spPr>
          <a:xfrm>
            <a:off x="868680" y="3648456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2" name="s12"/>
          <p:cNvSpPr txBox="1"/>
          <p:nvPr/>
        </p:nvSpPr>
        <p:spPr>
          <a:xfrm>
            <a:off x="1371600" y="3621024"/>
            <a:ext cx="9859975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ファイルを 本ばんに うつす → もう 一度 計算する</a:t>
            </a:r>
          </a:p>
        </p:txBody>
      </p:sp>
      <p:sp>
        <p:nvSpPr>
          <p:cNvPr id="13" name="s13"/>
          <p:cNvSpPr txBox="1"/>
          <p:nvPr/>
        </p:nvSpPr>
        <p:spPr>
          <a:xfrm>
            <a:off x="1371600" y="3931920"/>
            <a:ext cx="9859975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読みなおした データには 計算の 結果が 入って いないからです。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777240" y="4434840"/>
            <a:ext cx="1063721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5" name="s15"/>
          <p:cNvSpPr txBox="1"/>
          <p:nvPr/>
        </p:nvSpPr>
        <p:spPr>
          <a:xfrm>
            <a:off x="868680" y="4562856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6" name="s16"/>
          <p:cNvSpPr txBox="1"/>
          <p:nvPr/>
        </p:nvSpPr>
        <p:spPr>
          <a:xfrm>
            <a:off x="1371600" y="4535424"/>
            <a:ext cx="9859975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キーと 状態を つけて 保存する</a:t>
            </a:r>
          </a:p>
        </p:txBody>
      </p:sp>
      <p:sp>
        <p:nvSpPr>
          <p:cNvPr id="17" name="s17"/>
          <p:cNvSpPr txBox="1"/>
          <p:nvPr/>
        </p:nvSpPr>
        <p:spPr>
          <a:xfrm>
            <a:off x="1371600" y="4846320"/>
            <a:ext cx="9859975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ここで はじめて DynamoDB に 書きます。</a:t>
            </a:r>
          </a:p>
        </p:txBody>
      </p:sp>
      <p:sp>
        <p:nvSpPr>
          <p:cNvPr id="18" name="s18"/>
          <p:cNvSpPr txBox="1"/>
          <p:nvPr/>
        </p:nvSpPr>
        <p:spPr>
          <a:xfrm>
            <a:off x="777240" y="5440680"/>
            <a:ext cx="10637215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5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計算を チェックの 前に する 理由：</a:t>
            </a:r>
            <a:r>
              <a:rPr lang="ja-JP" altLang="en-US" sz="115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ブラウザが 送った 合計を、そのまま 保存しない ためです。</a:t>
            </a:r>
          </a:p>
        </p:txBody>
      </p:sp>
      <p:sp>
        <p:nvSpPr>
          <p:cNvPr id="21" name="s21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7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03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ステップ 3 — DTO を 足す（1/2）</a:t>
            </a:r>
          </a:p>
        </p:txBody>
      </p:sp>
      <p:sp>
        <p:nvSpPr>
          <p:cNvPr id="8" name="s8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さわる ファイルは 2 つだけ ① 新しく 作る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737360"/>
            <a:ext cx="10637215" cy="384048"/>
          </a:xfrm>
          <a:prstGeom prst="rect">
            <a:avLst/>
          </a:prstGeom>
          <a:solidFill>
            <a:srgbClr val="EDEFF3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886968" y="1792224"/>
            <a:ext cx="10417759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50" b="0" dirty="0">
                <a:solidFill>
                  <a:srgbClr val="2B3A67"/>
                </a:solidFill>
                <a:latin typeface="Consolas"/>
                <a:ea typeface="Consolas"/>
                <a:cs typeface="Consolas"/>
              </a:rPr>
              <a:t>dto/projectplan/XxxRequest.java  — 新しい ファイル</a:t>
            </a:r>
          </a:p>
        </p:txBody>
      </p:sp>
      <p:sp>
        <p:nvSpPr>
          <p:cNvPr id="4" name="s4"/>
          <p:cNvSpPr txBox="1"/>
          <p:nvPr/>
        </p:nvSpPr>
        <p:spPr>
          <a:xfrm>
            <a:off x="777240" y="2121408"/>
            <a:ext cx="10637215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s5"/>
          <p:cNvSpPr txBox="1"/>
          <p:nvPr/>
        </p:nvSpPr>
        <p:spPr>
          <a:xfrm>
            <a:off x="923544" y="2231136"/>
            <a:ext cx="10344607" cy="2670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@Data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@EqualsAndHashCode(callSuper = true)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@NoArgsConstructor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@DynamoDbBean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public class ProjectOverviewRequest extends ProjectPlanFormBase {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/** 事業者名 */              // ← シートの 項目名を そのまま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@NotBlank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@Size(max = 255)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@JsonProperty("operatorName")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private String operatorName;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s6"/>
          <p:cNvSpPr txBox="1"/>
          <p:nvPr/>
        </p:nvSpPr>
        <p:spPr>
          <a:xfrm>
            <a:off x="777240" y="5202936"/>
            <a:ext cx="10637215" cy="5486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気を つける こと：</a:t>
            </a:r>
            <a:r>
              <a:rPr lang="ja-JP" altLang="en-US" sz="12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@Builder は 使いません。親クラスの キーが 入らなく なります。しかも エラーが 出ません。</a:t>
            </a:r>
          </a:p>
        </p:txBody>
      </p:sp>
      <p:sp>
        <p:nvSpPr>
          <p:cNvPr id="9" name="s9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7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03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ステップ 3 — DTO を 足す（2/2）</a:t>
            </a:r>
          </a:p>
        </p:txBody>
      </p:sp>
      <p:sp>
        <p:nvSpPr>
          <p:cNvPr id="8" name="s8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② レジストリに 1 行 足す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737360"/>
            <a:ext cx="10637215" cy="384048"/>
          </a:xfrm>
          <a:prstGeom prst="rect">
            <a:avLst/>
          </a:prstGeom>
          <a:solidFill>
            <a:srgbClr val="EDEFF3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886968" y="1792224"/>
            <a:ext cx="10417759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50" b="0" dirty="0">
                <a:solidFill>
                  <a:srgbClr val="2B3A67"/>
                </a:solidFill>
                <a:latin typeface="Consolas"/>
                <a:ea typeface="Consolas"/>
                <a:cs typeface="Consolas"/>
              </a:rPr>
              <a:t>service/projectplan/ProjectPlanFormRegistry.java  — コンストラクタの 中</a:t>
            </a:r>
          </a:p>
        </p:txBody>
      </p:sp>
      <p:sp>
        <p:nvSpPr>
          <p:cNvPr id="4" name="s4"/>
          <p:cNvSpPr txBox="1"/>
          <p:nvPr/>
        </p:nvSpPr>
        <p:spPr>
          <a:xfrm>
            <a:off x="777240" y="2121408"/>
            <a:ext cx="10637215" cy="17785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s5"/>
          <p:cNvSpPr txBox="1"/>
          <p:nvPr/>
        </p:nvSpPr>
        <p:spPr>
          <a:xfrm>
            <a:off x="923544" y="2231136"/>
            <a:ext cx="10344607" cy="15956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register(new FormDefinition&lt;&gt;(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    "project-overview",        // URL に 使う 名前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    "PROJECT_OVERVIEW",        // 保存の キー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    "1.プロジェクト概要",        // 画面の 表示名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    8, false,                  // じゅんばん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    ProjectOverviewRequest.class,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    List.of()));               // SQL から 入れる 項目</a:t>
            </a:r>
          </a:p>
        </p:txBody>
      </p:sp>
      <p:sp>
        <p:nvSpPr>
          <p:cNvPr id="6" name="s6"/>
          <p:cNvSpPr txBox="1"/>
          <p:nvPr/>
        </p:nvSpPr>
        <p:spPr>
          <a:xfrm>
            <a:off x="777240" y="4128516"/>
            <a:ext cx="10637215" cy="5486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じゅんばんは とばせません。</a:t>
            </a:r>
            <a:r>
              <a:rPr lang="ja-JP" altLang="en-US" sz="12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あいだに 足したら、あとの ページを ぜんぶ 1 つずつ ずらします。テストが 見はって います。</a:t>
            </a:r>
          </a:p>
        </p:txBody>
      </p:sp>
      <p:sp>
        <p:nvSpPr>
          <p:cNvPr id="9" name="s9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7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03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ステップ 3 — シートに 表が ある とき</a:t>
            </a:r>
          </a:p>
        </p:txBody>
      </p:sp>
      <p:sp>
        <p:nvSpPr>
          <p:cNvPr id="8" name="s8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シートの 1 行 = クラス 1 つ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737360"/>
            <a:ext cx="10637215" cy="384048"/>
          </a:xfrm>
          <a:prstGeom prst="rect">
            <a:avLst/>
          </a:prstGeom>
          <a:solidFill>
            <a:srgbClr val="EDEFF3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886968" y="1792224"/>
            <a:ext cx="10417759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150" b="0" dirty="0">
                <a:solidFill>
                  <a:srgbClr val="2B3A67"/>
                </a:solidFill>
                <a:latin typeface="Consolas"/>
                <a:ea typeface="Consolas"/>
                <a:cs typeface="Consolas"/>
              </a:rPr>
              <a:t>表が ある ページの 書きかた</a:t>
            </a:r>
          </a:p>
        </p:txBody>
      </p:sp>
      <p:sp>
        <p:nvSpPr>
          <p:cNvPr id="4" name="s4"/>
          <p:cNvSpPr txBox="1"/>
          <p:nvPr/>
        </p:nvSpPr>
        <p:spPr>
          <a:xfrm>
            <a:off x="777240" y="2121408"/>
            <a:ext cx="10637215" cy="22082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s5"/>
          <p:cNvSpPr txBox="1"/>
          <p:nvPr/>
        </p:nvSpPr>
        <p:spPr>
          <a:xfrm>
            <a:off x="923544" y="2231136"/>
            <a:ext cx="10344607" cy="2025396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// ① 行の クラスを 作る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@Data @NoArgsConstructor @DynamoDbBean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public class MonitoringPlanRow implements ProjectPlanFormRow { /* 列を ならべる */ }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// ② ページの 中に リストで 持つ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@Valid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@NotEmpty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@JsonProperty("items")</a:t>
            </a:r>
          </a:p>
          <a:p>
            <a:pPr marL="0" indent="0">
              <a:lnSpc>
                <a:spcPct val="1250"/>
              </a:lnSpc>
              <a:buNone/>
            </a:pPr>
            <a:r>
              <a:rPr lang="ja-JP" altLang="en-US" sz="105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private List&lt;MonitoringPlanRow&gt; items;</a:t>
            </a:r>
          </a:p>
        </p:txBody>
      </p:sp>
      <p:sp>
        <p:nvSpPr>
          <p:cNvPr id="6" name="s6"/>
          <p:cNvSpPr txBox="1"/>
          <p:nvPr/>
        </p:nvSpPr>
        <p:spPr>
          <a:xfrm>
            <a:off x="777240" y="4558284"/>
            <a:ext cx="10637215" cy="5486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25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1 つの 表を 2 ページに 分けては いけません。</a:t>
            </a:r>
            <a:r>
              <a:rPr lang="ja-JP" altLang="en-US" sz="115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  むかし 1 つの 表を 3 ページに 分けて いました。どの「定義」が どの「分類」の 行か 分からなく なり、もとの 表に もどせません でした。</a:t>
            </a:r>
          </a:p>
        </p:txBody>
      </p:sp>
      <p:sp>
        <p:nvSpPr>
          <p:cNvPr id="9" name="s9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4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04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ステップ 4 — できあがる API</a:t>
            </a:r>
          </a:p>
        </p:txBody>
      </p:sp>
      <p:sp>
        <p:nvSpPr>
          <p:cNvPr id="5" name="s5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ぜんぶで 5 本です</a:t>
            </a:r>
          </a:p>
        </p:txBody>
      </p:sp>
      <p:graphicFrame>
        <p:nvGraphicFramePr>
          <p:cNvPr id="2" name="t2"/>
          <p:cNvGraphicFramePr>
            <a:graphicFrameLocks noGrp="1"/>
          </p:cNvGraphicFramePr>
          <p:nvPr/>
        </p:nvGraphicFramePr>
        <p:xfrm>
          <a:off x="777240" y="1783080"/>
          <a:ext cx="10637215" cy="2852928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4572000"/>
                <a:gridCol w="5013655"/>
              </a:tblGrid>
              <a:tr h="475488"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50" b="1" dirty="0">
                          <a:solidFill>
                            <a:srgbClr val="191C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Method</a:t>
                      </a:r>
                    </a:p>
                  </a:txBody>
                  <a:tcPr>
                    <a:solidFill>
                      <a:srgbClr val="EDEFF3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50" b="1" dirty="0">
                          <a:solidFill>
                            <a:srgbClr val="191C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Path</a:t>
                      </a:r>
                    </a:p>
                  </a:txBody>
                  <a:tcPr>
                    <a:solidFill>
                      <a:srgbClr val="EDEFF3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50" b="1" dirty="0">
                          <a:solidFill>
                            <a:srgbClr val="191C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なにを する か</a:t>
                      </a:r>
                    </a:p>
                  </a:txBody>
                  <a:tcPr>
                    <a:solidFill>
                      <a:srgbClr val="EDEFF3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</a:tr>
              <a:tr h="475488"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00" b="1" dirty="0">
                          <a:solidFill>
                            <a:srgbClr val="2B3A67"/>
                          </a:solidFill>
                          <a:latin typeface="Consolas"/>
                          <a:ea typeface="Consolas"/>
                          <a:cs typeface="Consolas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950" b="0" dirty="0">
                          <a:solidFill>
                            <a:srgbClr val="191C22"/>
                          </a:solidFill>
                          <a:latin typeface="Consolas"/>
                          <a:ea typeface="Consolas"/>
                          <a:cs typeface="Consolas"/>
                        </a:rPr>
                        <a:t>/projectplan/{projectId}/forms/{formSlug}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50" b="0" dirty="0">
                          <a:solidFill>
                            <a:srgbClr val="191C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 ページを 読む。SQL の 値も 入れて 返す。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</a:tr>
              <a:tr h="475488"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00" b="1" dirty="0">
                          <a:solidFill>
                            <a:srgbClr val="2B3A67"/>
                          </a:solidFill>
                          <a:latin typeface="Consolas"/>
                          <a:ea typeface="Consolas"/>
                          <a:cs typeface="Consolas"/>
                        </a:rP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950" b="0" dirty="0">
                          <a:solidFill>
                            <a:srgbClr val="191C22"/>
                          </a:solidFill>
                          <a:latin typeface="Consolas"/>
                          <a:ea typeface="Consolas"/>
                          <a:cs typeface="Consolas"/>
                        </a:rPr>
                        <a:t>/projectplan/{projectId}/forms/{formSlug}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50" b="0" dirty="0">
                          <a:solidFill>
                            <a:srgbClr val="191C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 ページを 保存する。1 つでも だめなら 何も 保存しない。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</a:tr>
              <a:tr h="475488"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00" b="1" dirty="0">
                          <a:solidFill>
                            <a:srgbClr val="2B3A67"/>
                          </a:solidFill>
                          <a:latin typeface="Consolas"/>
                          <a:ea typeface="Consolas"/>
                          <a:cs typeface="Consolas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950" b="0" dirty="0">
                          <a:solidFill>
                            <a:srgbClr val="191C22"/>
                          </a:solidFill>
                          <a:latin typeface="Consolas"/>
                          <a:ea typeface="Consolas"/>
                          <a:cs typeface="Consolas"/>
                        </a:rPr>
                        <a:t>/projectplan/{projectId}/forms/{formSlug}/files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50" b="0" dirty="0">
                          <a:solidFill>
                            <a:srgbClr val="191C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ファイルを あずかる。保存 できたら 本ばんに うつす。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</a:tr>
              <a:tr h="475488"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00" b="1" dirty="0">
                          <a:solidFill>
                            <a:srgbClr val="2B3A67"/>
                          </a:solidFill>
                          <a:latin typeface="Consolas"/>
                          <a:ea typeface="Consolas"/>
                          <a:cs typeface="Consolas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950" b="0" dirty="0">
                          <a:solidFill>
                            <a:srgbClr val="191C22"/>
                          </a:solidFill>
                          <a:latin typeface="Consolas"/>
                          <a:ea typeface="Consolas"/>
                          <a:cs typeface="Consolas"/>
                        </a:rPr>
                        <a:t>/projectplan/{projectId}/progress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50" b="0" dirty="0">
                          <a:solidFill>
                            <a:srgbClr val="191C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どこまで 進んだか、つぎは どの ページかを 返す。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</a:tr>
              <a:tr h="475488"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00" b="1" dirty="0">
                          <a:solidFill>
                            <a:srgbClr val="2B3A67"/>
                          </a:solidFill>
                          <a:latin typeface="Consolas"/>
                          <a:ea typeface="Consolas"/>
                          <a:cs typeface="Consolas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950" b="0" dirty="0">
                          <a:solidFill>
                            <a:srgbClr val="191C22"/>
                          </a:solidFill>
                          <a:latin typeface="Consolas"/>
                          <a:ea typeface="Consolas"/>
                          <a:cs typeface="Consolas"/>
                        </a:rPr>
                        <a:t>/projectplan/progress?projectIds=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  <a:tc>
                  <a:txBody>
                    <a:bodyPr lIns="73152" rIns="73152" tIns="45720" bIns="45720" anchor="ctr"/>
                    <a:lstStyle/>
                    <a:p>
                      <a:pPr marL="0" indent="0">
                        <a:buNone/>
                      </a:pPr>
                      <a:r>
                        <a:rPr lang="ja-JP" altLang="en-US" sz="1050" b="0" dirty="0">
                          <a:solidFill>
                            <a:srgbClr val="191C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一覧画面用。たくさんの 案件を まとめて 返す。</a:t>
                      </a:r>
                    </a:p>
                  </a:txBody>
                  <a:tcPr>
                    <a:solidFill>
                      <a:srgbClr val="FFFFFF"/>
                    </a:solidFill>
                    <a:lnB w="9525">
                      <a:solidFill>
                        <a:srgbClr val="D6DA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s3"/>
          <p:cNvSpPr txBox="1"/>
          <p:nvPr/>
        </p:nvSpPr>
        <p:spPr>
          <a:xfrm>
            <a:off x="777240" y="4663440"/>
            <a:ext cx="10637215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200" b="0" dirty="0">
                <a:solidFill>
                  <a:srgbClr val="2B3A67"/>
                </a:solidFill>
                <a:latin typeface="Consolas"/>
                <a:ea typeface="Consolas"/>
                <a:cs typeface="Consolas"/>
              </a:rPr>
              <a:t>{formSlug}</a:t>
            </a:r>
            <a:r>
              <a:rPr lang="ja-JP" altLang="en-US" sz="12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 が レジストリを 引きます。だから ページが ふえても、この 5 本は かわりません。</a:t>
            </a:r>
          </a:p>
        </p:txBody>
      </p:sp>
      <p:sp>
        <p:nvSpPr>
          <p:cNvPr id="6" name="s6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19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05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データの ばしょ</a:t>
            </a:r>
          </a:p>
        </p:txBody>
      </p:sp>
      <p:sp>
        <p:nvSpPr>
          <p:cNvPr id="20" name="s20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27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SQL は 読むだけ。書くのは DynamoDB だけ。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8745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777240" y="20574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>PostgreSQL</a:t>
            </a:r>
          </a:p>
        </p:txBody>
      </p:sp>
      <p:sp>
        <p:nvSpPr>
          <p:cNvPr id="4" name="s4"/>
          <p:cNvSpPr txBox="1"/>
          <p:nvPr/>
        </p:nvSpPr>
        <p:spPr>
          <a:xfrm>
            <a:off x="777240" y="24048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master data</a:t>
            </a:r>
          </a:p>
        </p:txBody>
      </p:sp>
      <p:sp>
        <p:nvSpPr>
          <p:cNvPr id="5" name="s5"/>
          <p:cNvSpPr txBox="1"/>
          <p:nvPr/>
        </p:nvSpPr>
        <p:spPr>
          <a:xfrm>
            <a:off x="3429000" y="2130552"/>
            <a:ext cx="1340968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400" b="0" dirty="0">
                <a:solidFill>
                  <a:srgbClr val="2B3A67"/>
                </a:solidFill>
                <a:latin typeface="Noto Sans JP"/>
                <a:ea typeface="Noto Sans JP"/>
                <a:cs typeface="Noto Sans JP"/>
              </a:rPr>
              <a:t>———→</a:t>
            </a:r>
          </a:p>
        </p:txBody>
      </p:sp>
      <p:sp>
        <p:nvSpPr>
          <p:cNvPr id="6" name="s6"/>
          <p:cNvSpPr txBox="1"/>
          <p:nvPr/>
        </p:nvSpPr>
        <p:spPr>
          <a:xfrm>
            <a:off x="3429000" y="2423160"/>
            <a:ext cx="1340968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000" b="0" dirty="0">
                <a:solidFill>
                  <a:srgbClr val="737C8C"/>
                </a:solidFill>
                <a:latin typeface="Noto Sans JP"/>
                <a:ea typeface="Noto Sans JP"/>
                <a:cs typeface="Noto Sans JP"/>
              </a:rPr>
              <a:t>読むだけ</a:t>
            </a:r>
          </a:p>
        </p:txBody>
      </p:sp>
      <p:sp>
        <p:nvSpPr>
          <p:cNvPr id="7" name="s7"/>
          <p:cNvSpPr txBox="1"/>
          <p:nvPr/>
        </p:nvSpPr>
        <p:spPr>
          <a:xfrm>
            <a:off x="4769968" y="18745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8" name="s8"/>
          <p:cNvSpPr txBox="1"/>
          <p:nvPr/>
        </p:nvSpPr>
        <p:spPr>
          <a:xfrm>
            <a:off x="4769968" y="20574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>API</a:t>
            </a:r>
          </a:p>
        </p:txBody>
      </p:sp>
      <p:sp>
        <p:nvSpPr>
          <p:cNvPr id="9" name="s9"/>
          <p:cNvSpPr txBox="1"/>
          <p:nvPr/>
        </p:nvSpPr>
        <p:spPr>
          <a:xfrm>
            <a:off x="4769968" y="24048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1 service</a:t>
            </a:r>
          </a:p>
        </p:txBody>
      </p:sp>
      <p:sp>
        <p:nvSpPr>
          <p:cNvPr id="10" name="s10"/>
          <p:cNvSpPr txBox="1"/>
          <p:nvPr/>
        </p:nvSpPr>
        <p:spPr>
          <a:xfrm>
            <a:off x="7421728" y="2130552"/>
            <a:ext cx="1340968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400" b="0" dirty="0">
                <a:solidFill>
                  <a:srgbClr val="2B3A67"/>
                </a:solidFill>
                <a:latin typeface="Noto Sans JP"/>
                <a:ea typeface="Noto Sans JP"/>
                <a:cs typeface="Noto Sans JP"/>
              </a:rPr>
              <a:t>———→</a:t>
            </a:r>
          </a:p>
        </p:txBody>
      </p:sp>
      <p:sp>
        <p:nvSpPr>
          <p:cNvPr id="11" name="s11"/>
          <p:cNvSpPr txBox="1"/>
          <p:nvPr/>
        </p:nvSpPr>
        <p:spPr>
          <a:xfrm>
            <a:off x="7421728" y="2423160"/>
            <a:ext cx="1340968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000" b="0" dirty="0">
                <a:solidFill>
                  <a:srgbClr val="737C8C"/>
                </a:solidFill>
                <a:latin typeface="Noto Sans JP"/>
                <a:ea typeface="Noto Sans JP"/>
                <a:cs typeface="Noto Sans JP"/>
              </a:rPr>
              <a:t>書く</a:t>
            </a:r>
          </a:p>
        </p:txBody>
      </p:sp>
      <p:sp>
        <p:nvSpPr>
          <p:cNvPr id="12" name="s12"/>
          <p:cNvSpPr txBox="1"/>
          <p:nvPr/>
        </p:nvSpPr>
        <p:spPr>
          <a:xfrm>
            <a:off x="8762695" y="1874520"/>
            <a:ext cx="2651760" cy="914400"/>
          </a:xfrm>
          <a:prstGeom prst="rect">
            <a:avLst/>
          </a:prstGeom>
          <a:solidFill>
            <a:srgbClr val="E7EAF3"/>
          </a:solidFill>
          <a:ln w="12700">
            <a:solidFill>
              <a:srgbClr val="2B3A67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3" name="s13"/>
          <p:cNvSpPr txBox="1"/>
          <p:nvPr/>
        </p:nvSpPr>
        <p:spPr>
          <a:xfrm>
            <a:off x="8762695" y="20574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>DynamoDB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8762695" y="24048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1 item / page</a:t>
            </a:r>
          </a:p>
        </p:txBody>
      </p:sp>
      <p:sp>
        <p:nvSpPr>
          <p:cNvPr id="15" name="s15"/>
          <p:cNvSpPr txBox="1"/>
          <p:nvPr/>
        </p:nvSpPr>
        <p:spPr>
          <a:xfrm>
            <a:off x="777240" y="2898648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100" b="0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←——————————  ✕  書きもどさない  ——————————→</a:t>
            </a:r>
          </a:p>
        </p:txBody>
      </p:sp>
      <p:sp>
        <p:nvSpPr>
          <p:cNvPr id="16" name="s16"/>
          <p:cNvSpPr txBox="1"/>
          <p:nvPr/>
        </p:nvSpPr>
        <p:spPr>
          <a:xfrm>
            <a:off x="777240" y="3520440"/>
            <a:ext cx="10637215" cy="1874520"/>
          </a:xfrm>
          <a:prstGeom prst="rect">
            <a:avLst/>
          </a:prstGeom>
          <a:solidFill>
            <a:srgbClr val="F7E9E8"/>
          </a:solidFill>
          <a:ln w="25400">
            <a:solidFill>
              <a:srgbClr val="B33A38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7" name="s17"/>
          <p:cNvSpPr txBox="1"/>
          <p:nvPr/>
        </p:nvSpPr>
        <p:spPr>
          <a:xfrm>
            <a:off x="1097280" y="37033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950" b="0" spc="20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ぜったい</a:t>
            </a:r>
          </a:p>
        </p:txBody>
      </p:sp>
      <p:sp>
        <p:nvSpPr>
          <p:cNvPr id="18" name="s18"/>
          <p:cNvSpPr txBox="1"/>
          <p:nvPr/>
        </p:nvSpPr>
        <p:spPr>
          <a:xfrm>
            <a:off x="1097280" y="4041648"/>
            <a:ext cx="9997135" cy="12344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300" b="1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>PostgreSQL の しごとは 2 つだけ。</a:t>
            </a:r>
            <a:r>
              <a:rPr lang="ja-JP" altLang="en-US" sz="13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>だれが どの 案件を 見て いいか 決める こと。自動で 入れる もとの データを わたす こと。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ja-JP" altLang="en-US" sz="130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申請書の 中身が PostgreSQL に 書かれる ことは ありません。</a:t>
            </a:r>
            <a:r>
              <a:rPr lang="ja-JP" altLang="en-US" sz="13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>さいごの 提出の ときも 同じです。「完了」も DynamoDB の 中の 項目です。</a:t>
            </a:r>
          </a:p>
        </p:txBody>
      </p:sp>
      <p:sp>
        <p:nvSpPr>
          <p:cNvPr id="21" name="s21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6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06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プロンプト ① — ベースフォーム用（1/2）</a:t>
            </a:r>
          </a:p>
        </p:txBody>
      </p:sp>
      <p:sp>
        <p:nvSpPr>
          <p:cNvPr id="7" name="s7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最初に 1 回だけ 送ります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691640"/>
            <a:ext cx="10637215" cy="365760"/>
          </a:xfrm>
          <a:prstGeom prst="rect">
            <a:avLst/>
          </a:prstGeom>
          <a:solidFill>
            <a:srgbClr val="E7EAF3"/>
          </a:solidFill>
          <a:ln w="12700">
            <a:solidFill>
              <a:srgbClr val="2B3A67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886968" y="1737360"/>
            <a:ext cx="10417759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0" dirty="0">
                <a:solidFill>
                  <a:srgbClr val="2B3A67"/>
                </a:solidFill>
                <a:latin typeface="Consolas"/>
                <a:ea typeface="Consolas"/>
                <a:cs typeface="Consolas"/>
              </a:rPr>
              <a:t>PROMPT 1 — send once, before any page</a:t>
            </a:r>
          </a:p>
        </p:txBody>
      </p:sp>
      <p:sp>
        <p:nvSpPr>
          <p:cNvPr id="4" name="s4"/>
          <p:cNvSpPr txBox="1"/>
          <p:nvPr/>
        </p:nvSpPr>
        <p:spPr>
          <a:xfrm>
            <a:off x="777240" y="2057400"/>
            <a:ext cx="10637215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3A67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s5"/>
          <p:cNvSpPr txBox="1"/>
          <p:nvPr/>
        </p:nvSpPr>
        <p:spPr>
          <a:xfrm>
            <a:off x="923544" y="2148840"/>
            <a:ext cx="10344607" cy="4160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You are helping me build the backend of a multi-page form.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You have no access to my repository.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Feature: {FEATURE}. About {COUNT} pages. People fill it in over several sittings,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so each page must save on its own and be resumable.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Stack: Java 17, Spring Boot 3, Jakarta Validation, Lombok, DynamoDB Enhanced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Client, PostgreSQL for master data.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THE RULE THAT CANNOT BE BROKEN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One controller, one service, one repository - for ALL pages. Adding a page is one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DTO plus one registry line. Never a new endpoint, service or repository per page.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If a request seems to need one, STOP and explain.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INVARIANTS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1. Page atomicity. A page is stored only if it validates in full.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2. The server owns derived values. Totals and row skeletons are recomputed on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every read and save, and overwrite what the client sent.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3. Derivations must be idempotent - saving applies them twice.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4. Keys and audit fields are server-managed and read-only on deserialise, so a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client cannot forge a "complete" status.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5. THE DATA FLOWS ONE WAY, AND THIS IS ABSOLUTE. PostgreSQL is READ-ONLY: it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decides who may access what, and supplies master data for autofill. NOTHING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from this form is ever written back to it. All form data goes to DynamoDB,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one item per page. "Complete" is an attribute on that item, not a column in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PostgreSQL. The save method therefore stays @Transactional(readOnly = true).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                                                          → つづく</a:t>
            </a:r>
          </a:p>
        </p:txBody>
      </p:sp>
      <p:sp>
        <p:nvSpPr>
          <p:cNvPr id="8" name="s8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6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06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プロンプト ① — ベースフォーム用（2/2）</a:t>
            </a:r>
          </a:p>
        </p:txBody>
      </p:sp>
      <p:sp>
        <p:nvSpPr>
          <p:cNvPr id="7" name="s7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つづき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691640"/>
            <a:ext cx="10637215" cy="365760"/>
          </a:xfrm>
          <a:prstGeom prst="rect">
            <a:avLst/>
          </a:prstGeom>
          <a:solidFill>
            <a:srgbClr val="E7EAF3"/>
          </a:solidFill>
          <a:ln w="12700">
            <a:solidFill>
              <a:srgbClr val="2B3A67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886968" y="1737360"/>
            <a:ext cx="10417759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0" dirty="0">
                <a:solidFill>
                  <a:srgbClr val="2B3A67"/>
                </a:solidFill>
                <a:latin typeface="Consolas"/>
                <a:ea typeface="Consolas"/>
                <a:cs typeface="Consolas"/>
              </a:rPr>
              <a:t>PROMPT 1 — continued</a:t>
            </a:r>
          </a:p>
        </p:txBody>
      </p:sp>
      <p:sp>
        <p:nvSpPr>
          <p:cNvPr id="4" name="s4"/>
          <p:cNvSpPr txBox="1"/>
          <p:nvPr/>
        </p:nvSpPr>
        <p:spPr>
          <a:xfrm>
            <a:off x="777240" y="2057400"/>
            <a:ext cx="10637215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3A67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s5"/>
          <p:cNvSpPr txBox="1"/>
          <p:nvPr/>
        </p:nvSpPr>
        <p:spPr>
          <a:xfrm>
            <a:off x="923544" y="2148840"/>
            <a:ext cx="10344607" cy="4160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BUILD THE FRAMEWORK ONLY - NO PAGES YET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1. An abstract base class holding keys, status, updatedAt, updatedBy and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attachments. Use @Getter/@Setter, NOT @Data.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2. An empty marker interface for a row of a repeating table.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3. A FormDefinition record: slug, storageKey, displayName, order, DTO class,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sqlFields, derivation, optional.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4. A registry listing every page. Fail at startup on a duplicate slug or key,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or a gap in the ordering.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5. One generic repository for all pages, plus ONE query that reads the status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of every page at once.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6. A service with this exact save order: bind -&gt; RUN DERIVATION -&gt; validate -&gt;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on any violation return 400 and store nothing -&gt; promote files -&gt; re-read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and RUN DERIVATION AGAIN -&gt; set keys server-side -&gt; save.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7. A class-level, repeatable @RequiredIf(field, when, is). Its validator MUST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report the violation against the dependent field’s node using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addPropertyNode(field) - a per-DTO @AssertTrue keys the error on the method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name and breaks the client’s error contract.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8. A controller with five endpoints for all pages. Bind the body as JsonNode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and use treeToValue, not convertValue.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TWO TRAPS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A. Autofill must NOT simply overwrite. Run the binders against a throwaway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instance first and report as read-only ONLY the fields that came back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non-null. Otherwise a field SQL cannot fill arrives empty AND locked, and a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required field in that state can never be saved.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B. The registry lookup returns FormDefinition&lt;?&gt;, which will not typecheck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against repository.find(def.type(), ...). Add a private generic capture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helper at every boundary.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VALIDATION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Standard Jakarta annotations only, plus @Pattern with an inline regex. Do NOT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write custom character-set validator annotations.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Write tests for all of the above. Then ask me for the first sheet.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Do not write any DTO before I send you a sheet.</a:t>
            </a:r>
          </a:p>
        </p:txBody>
      </p:sp>
      <p:sp>
        <p:nvSpPr>
          <p:cNvPr id="8" name="s8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6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07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プロンプト ② — DTO 用</a:t>
            </a:r>
          </a:p>
        </p:txBody>
      </p:sp>
      <p:sp>
        <p:nvSpPr>
          <p:cNvPr id="7" name="s7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シート 1 まいごとに 送ります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691640"/>
            <a:ext cx="10637215" cy="365760"/>
          </a:xfrm>
          <a:prstGeom prst="rect">
            <a:avLst/>
          </a:prstGeom>
          <a:solidFill>
            <a:srgbClr val="E7EAF3"/>
          </a:solidFill>
          <a:ln w="12700">
            <a:solidFill>
              <a:srgbClr val="2B3A67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886968" y="1737360"/>
            <a:ext cx="10417759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0" dirty="0">
                <a:solidFill>
                  <a:srgbClr val="2B3A67"/>
                </a:solidFill>
                <a:latin typeface="Consolas"/>
                <a:ea typeface="Consolas"/>
                <a:cs typeface="Consolas"/>
              </a:rPr>
              <a:t>PROMPT 2 — send once per sheet</a:t>
            </a:r>
          </a:p>
        </p:txBody>
      </p:sp>
      <p:sp>
        <p:nvSpPr>
          <p:cNvPr id="4" name="s4"/>
          <p:cNvSpPr txBox="1"/>
          <p:nvPr/>
        </p:nvSpPr>
        <p:spPr>
          <a:xfrm>
            <a:off x="777240" y="2057400"/>
            <a:ext cx="10637215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3A67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s5"/>
          <p:cNvSpPr txBox="1"/>
          <p:nvPr/>
        </p:nvSpPr>
        <p:spPr>
          <a:xfrm>
            <a:off x="923544" y="2148840"/>
            <a:ext cx="10344607" cy="4160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Here is the next sheet.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Sheet name: {SHEET_NAME}   Rows {FROM}-{TO}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Headers and column labels:  {paste}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Notes on the sheet:         {paste - do not summarise}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A filled example from the official sample file: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{paste 1-2 real rows - DO NOT blank them out}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Return exactly two things, no long explanation: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A. The DTO class.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- Each field’s label from the sheet becomes its javadoc, verbatim.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- @JsonProperty on every field.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- NO @Builder or @AllArgsConstructor: Lombok’s builder omits superclass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 fields, so the keys become unsettable WITH NO COMPILE ERROR.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- If the sheet has a yes/no toggle governing other fields, add a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  class-level @RequiredIf.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B. One registry line for this page.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IF THE SHEET HAS A REPEATING TABLE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One row of the sheet is one row object. Do not flatten a table into a single set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of columns, and do not split one table’s columns across two pages. Write a row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class implementing the marker interface and hold it as List&lt;Row&gt; with @Valid and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@NotEmpty.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VALIDATION - this is where mistakes are most common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1. A field the official example LEAVES BLANK must not be @NotBlank. Because a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page is all-or-nothing, one wrongly-required field makes the whole page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unsaveable.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2. Take @Size from the example, do not guess. Measure the longest value.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3. No character-set rule at all on: units, symbols, formulas, account numbers,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codes, classification letters. They mix scripts by nature.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4. Before adding a @Pattern, find the value in the example and check the pattern</a:t>
            </a:r>
          </a:p>
          <a:p>
            <a:pPr marL="0" indent="0">
              <a:lnSpc>
                <a:spcPct val="1200"/>
              </a:lnSpc>
              <a:buNone/>
            </a:pPr>
            <a:r>
              <a:rPr lang="ja-JP" altLang="en-US" sz="860" b="0" dirty="0">
                <a:solidFill>
                  <a:srgbClr val="191C22"/>
                </a:solidFill>
                <a:latin typeface="Consolas"/>
                <a:ea typeface="Consolas"/>
                <a:cs typeface="Consolas"/>
              </a:rPr>
              <a:t>   accepts it.</a:t>
            </a:r>
          </a:p>
        </p:txBody>
      </p:sp>
      <p:sp>
        <p:nvSpPr>
          <p:cNvPr id="8" name="s8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13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50" b="1" spc="140" dirty="0">
                <a:solidFill>
                  <a:srgbClr val="B33A38"/>
                </a:solidFill>
                <a:latin typeface="Consolas"/>
                <a:ea typeface="Consolas"/>
                <a:cs typeface="Consolas"/>
              </a:rPr>
              <a:t>08  </a:t>
            </a:r>
            <a:r>
              <a:rPr lang="ja-JP" altLang="en-US" sz="1050" b="0" spc="14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じっさいに あった 失敗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777240" y="786384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30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この 2 つで いちばん 時間を 使いました</a:t>
            </a:r>
          </a:p>
        </p:txBody>
      </p:sp>
      <p:sp>
        <p:nvSpPr>
          <p:cNvPr id="2" name="s2"/>
          <p:cNvSpPr txBox="1"/>
          <p:nvPr/>
        </p:nvSpPr>
        <p:spPr>
          <a:xfrm>
            <a:off x="777240" y="1783080"/>
            <a:ext cx="51585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" name="s3"/>
          <p:cNvSpPr txBox="1"/>
          <p:nvPr/>
        </p:nvSpPr>
        <p:spPr>
          <a:xfrm>
            <a:off x="978408" y="1938528"/>
            <a:ext cx="4756252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5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文字の チェックが きびしすぎた</a:t>
            </a:r>
          </a:p>
        </p:txBody>
      </p:sp>
      <p:sp>
        <p:nvSpPr>
          <p:cNvPr id="4" name="s4"/>
          <p:cNvSpPr txBox="1"/>
          <p:nvPr/>
        </p:nvSpPr>
        <p:spPr>
          <a:xfrm>
            <a:off x="978408" y="2423160"/>
            <a:ext cx="4756252" cy="8229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200" b="0" dirty="0">
                <a:solidFill>
                  <a:srgbClr val="4A5160"/>
                </a:solidFill>
                <a:latin typeface="Consolas"/>
                <a:ea typeface="Consolas"/>
                <a:cs typeface="Consolas"/>
              </a:rPr>
              <a:t>t-CO2/年、分類の Ⅰ Ⅱ Ⅲ、式の = と ×、名前の 間の スペース。</a:t>
            </a:r>
          </a:p>
        </p:txBody>
      </p:sp>
      <p:cxnSp>
        <p:nvCxnSpPr>
          <p:cNvPr id="5" name="l5"/>
          <p:cNvCxnSpPr/>
          <p:nvPr/>
        </p:nvCxnSpPr>
        <p:spPr>
          <a:xfrm>
            <a:off x="978408" y="3337560"/>
            <a:ext cx="4756252" cy="0"/>
          </a:xfrm>
          <a:prstGeom prst="line">
            <a:avLst/>
          </a:prstGeom>
          <a:ln w="9525">
            <a:solidFill>
              <a:srgbClr val="D6DAE2"/>
            </a:solidFill>
          </a:ln>
        </p:spPr>
      </p:cxnSp>
      <p:sp>
        <p:nvSpPr>
          <p:cNvPr id="6" name="s6"/>
          <p:cNvSpPr txBox="1"/>
          <p:nvPr/>
        </p:nvSpPr>
        <p:spPr>
          <a:xfrm>
            <a:off x="978408" y="3456432"/>
            <a:ext cx="4756252" cy="1371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ぜんぶ 公式の 用紙に ある 値です。それなのに エラーに なりました。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2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単位・記号・式・番号には、文字の ルールを つけません。</a:t>
            </a:r>
          </a:p>
        </p:txBody>
      </p:sp>
      <p:sp>
        <p:nvSpPr>
          <p:cNvPr id="7" name="s7"/>
          <p:cNvSpPr txBox="1"/>
          <p:nvPr/>
        </p:nvSpPr>
        <p:spPr>
          <a:xfrm>
            <a:off x="6255868" y="1783080"/>
            <a:ext cx="51585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2"/>
            </a:solidFill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00" b="0" dirty="0">
                <a:solidFill>
                  <a:srgbClr val="191C22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8" name="s8"/>
          <p:cNvSpPr txBox="1"/>
          <p:nvPr/>
        </p:nvSpPr>
        <p:spPr>
          <a:xfrm>
            <a:off x="6457036" y="1938528"/>
            <a:ext cx="4756252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500" b="1" dirty="0">
                <a:solidFill>
                  <a:srgbClr val="191C22"/>
                </a:solidFill>
                <a:latin typeface="Noto Serif JP"/>
                <a:ea typeface="Noto Serif JP"/>
                <a:cs typeface="Noto Serif JP"/>
              </a:rPr>
              <a:t>「必須」を つけすぎた</a:t>
            </a:r>
          </a:p>
        </p:txBody>
      </p:sp>
      <p:sp>
        <p:nvSpPr>
          <p:cNvPr id="9" name="s9"/>
          <p:cNvSpPr txBox="1"/>
          <p:nvPr/>
        </p:nvSpPr>
        <p:spPr>
          <a:xfrm>
            <a:off x="6457036" y="2423160"/>
            <a:ext cx="4756252" cy="8229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2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設計書は ほとんどの 項目を 必須に して います。でも 公式の 用紙は そうでは ありません。</a:t>
            </a:r>
          </a:p>
        </p:txBody>
      </p:sp>
      <p:cxnSp>
        <p:nvCxnSpPr>
          <p:cNvPr id="10" name="l10"/>
          <p:cNvCxnSpPr/>
          <p:nvPr/>
        </p:nvCxnSpPr>
        <p:spPr>
          <a:xfrm>
            <a:off x="6457036" y="3337560"/>
            <a:ext cx="4756252" cy="0"/>
          </a:xfrm>
          <a:prstGeom prst="line">
            <a:avLst/>
          </a:prstGeom>
          <a:ln w="9525">
            <a:solidFill>
              <a:srgbClr val="D6DAE2"/>
            </a:solidFill>
          </a:ln>
        </p:spPr>
      </p:cxnSp>
      <p:sp>
        <p:nvSpPr>
          <p:cNvPr id="11" name="s11"/>
          <p:cNvSpPr txBox="1"/>
          <p:nvPr/>
        </p:nvSpPr>
        <p:spPr>
          <a:xfrm>
            <a:off x="6457036" y="3456432"/>
            <a:ext cx="4756252" cy="1371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B33A38"/>
                </a:solidFill>
                <a:latin typeface="Noto Sans JP"/>
                <a:ea typeface="Noto Sans JP"/>
                <a:cs typeface="Noto Sans JP"/>
              </a:rPr>
              <a:t>ページは 全部 そろわないと 保存 できません。1 つ まちがえるだけで、その ページは ずっと 保存 できなく なります。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200" b="0" dirty="0">
                <a:solidFill>
                  <a:srgbClr val="4A5160"/>
                </a:solidFill>
                <a:latin typeface="Noto Sans JP"/>
                <a:ea typeface="Noto Sans JP"/>
                <a:cs typeface="Noto Sans JP"/>
              </a:rPr>
              <a:t>記入例が 空の 項目は、必須に しません。</a:t>
            </a:r>
          </a:p>
        </p:txBody>
      </p:sp>
      <p:sp>
        <p:nvSpPr>
          <p:cNvPr id="12" name="s12"/>
          <p:cNvSpPr txBox="1"/>
          <p:nvPr/>
        </p:nvSpPr>
        <p:spPr>
          <a:xfrm>
            <a:off x="777240" y="525780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ctr">
              <a:buNone/>
            </a:pPr>
            <a:r>
              <a:rPr lang="ja-JP" altLang="en-US" sz="10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くわしい 記録：db/projectplan-row-model-proposal.md  ／  プロンプト全文：backend/PROMPT_MULTIPAGE_FORM.md</a:t>
            </a:r>
          </a:p>
        </p:txBody>
      </p:sp>
      <p:sp>
        <p:nvSpPr>
          <p:cNvPr id="15" name="s15"/>
          <p:cNvSpPr txBox="1"/>
          <p:nvPr/>
        </p:nvSpPr>
        <p:spPr>
          <a:xfrm>
            <a:off x="10865815" y="6400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rmAutofit/>
          </a:bodyPr>
          <a:lstStyle/>
          <a:p>
            <a:pPr marL="0" indent="0" algn="r">
              <a:buNone/>
            </a:pPr>
            <a:r>
              <a:rPr lang="ja-JP" altLang="en-US" sz="900" b="0" dirty="0">
                <a:solidFill>
                  <a:srgbClr val="737C8C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191C22"/>
      </a:dk1>
      <a:lt1>
        <a:srgbClr val="FFFFFF"/>
      </a:lt1>
      <a:dk2>
        <a:srgbClr val="2B3A67"/>
      </a:dk2>
      <a:lt2>
        <a:srgbClr val="EDEFF3"/>
      </a:lt2>
      <a:accent1>
        <a:srgbClr val="2B3A67"/>
      </a:accent1>
      <a:accent2>
        <a:srgbClr val="B33A38"/>
      </a:accent2>
      <a:accent3>
        <a:srgbClr val="737C8C"/>
      </a:accent3>
      <a:accent4>
        <a:srgbClr val="D6DAE2"/>
      </a:accent4>
      <a:accent5>
        <a:srgbClr val="E7EAF3"/>
      </a:accent5>
      <a:accent6>
        <a:srgbClr val="F7E9E8"/>
      </a:accent6>
      <a:hlink>
        <a:srgbClr val="2B3A67"/>
      </a:hlink>
      <a:folHlink>
        <a:srgbClr val="737C8C"/>
      </a:folHlink>
    </a:clrScheme>
    <a:fontScheme name="Plain">
      <a:majorFont>
        <a:latin typeface="Noto Serif JP"/>
        <a:ea typeface="Noto Serif JP"/>
        <a:cs typeface=""/>
      </a:majorFont>
      <a:minorFont>
        <a:latin typeface="Noto Sans JP"/>
        <a:ea typeface="Noto Sans JP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